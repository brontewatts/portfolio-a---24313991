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0" Type="http://schemas.openxmlformats.org/officeDocument/2006/relationships/slide" Target="slides/slide5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dca2a0be4e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dca2a0be4e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dca2a0be4e_0_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dca2a0be4e_0_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dca2a0be4e_0_1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dca2a0be4e_0_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dca2a0be4e_0_1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dca2a0be4e_0_1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2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dark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Char char="●"/>
              <a:defRPr sz="1800">
                <a:solidFill>
                  <a:schemeClr val="lt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2"/>
                </a:solidFill>
              </a:defRPr>
            </a:lvl1pPr>
            <a:lvl2pPr lvl="1" algn="r">
              <a:buNone/>
              <a:defRPr sz="1000">
                <a:solidFill>
                  <a:schemeClr val="lt2"/>
                </a:solidFill>
              </a:defRPr>
            </a:lvl2pPr>
            <a:lvl3pPr lvl="2" algn="r">
              <a:buNone/>
              <a:defRPr sz="1000">
                <a:solidFill>
                  <a:schemeClr val="lt2"/>
                </a:solidFill>
              </a:defRPr>
            </a:lvl3pPr>
            <a:lvl4pPr lvl="3" algn="r">
              <a:buNone/>
              <a:defRPr sz="1000">
                <a:solidFill>
                  <a:schemeClr val="lt2"/>
                </a:solidFill>
              </a:defRPr>
            </a:lvl4pPr>
            <a:lvl5pPr lvl="4" algn="r">
              <a:buNone/>
              <a:defRPr sz="1000">
                <a:solidFill>
                  <a:schemeClr val="lt2"/>
                </a:solidFill>
              </a:defRPr>
            </a:lvl5pPr>
            <a:lvl6pPr lvl="5" algn="r">
              <a:buNone/>
              <a:defRPr sz="1000">
                <a:solidFill>
                  <a:schemeClr val="lt2"/>
                </a:solidFill>
              </a:defRPr>
            </a:lvl6pPr>
            <a:lvl7pPr lvl="6" algn="r">
              <a:buNone/>
              <a:defRPr sz="1000">
                <a:solidFill>
                  <a:schemeClr val="lt2"/>
                </a:solidFill>
              </a:defRPr>
            </a:lvl7pPr>
            <a:lvl8pPr lvl="7" algn="r">
              <a:buNone/>
              <a:defRPr sz="1000">
                <a:solidFill>
                  <a:schemeClr val="lt2"/>
                </a:solidFill>
              </a:defRPr>
            </a:lvl8pPr>
            <a:lvl9pPr lvl="8" algn="r">
              <a:buNone/>
              <a:defRPr sz="1000">
                <a:solidFill>
                  <a:schemeClr val="l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Hashing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Cybersecurity - CITS2006  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What is Hashing?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GB"/>
              <a:t>Hashing is the process of mapping of arbitrary size to a fixed size to output a </a:t>
            </a:r>
            <a:r>
              <a:rPr b="1" lang="en-GB">
                <a:solidFill>
                  <a:srgbClr val="FF0000"/>
                </a:solidFill>
              </a:rPr>
              <a:t>HASH VALUE</a:t>
            </a:r>
            <a:endParaRPr b="1">
              <a:solidFill>
                <a:srgbClr val="FF0000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-GB"/>
              <a:t>Where would we use hash: for storing passwords, for verification of parties sending and </a:t>
            </a:r>
            <a:r>
              <a:rPr lang="en-GB"/>
              <a:t>receiving</a:t>
            </a:r>
            <a:r>
              <a:rPr lang="en-GB"/>
              <a:t> communications (digital signatures) or in blockchain.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-GB"/>
              <a:t>Hashing can be created using different algorithms 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67" name="Google Shape;67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81025" y="54262"/>
            <a:ext cx="9496000" cy="5034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Fun Facts</a:t>
            </a:r>
            <a:endParaRPr/>
          </a:p>
        </p:txBody>
      </p:sp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GB"/>
              <a:t>Once you hash an </a:t>
            </a:r>
            <a:r>
              <a:rPr lang="en-GB"/>
              <a:t>input value, it is generally impossible to reverse it to find the original input (even using computers)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-GB"/>
              <a:t>A change in even 1 character of the input text can completely change the output text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-GB"/>
              <a:t>If using the same algorithm, an input text will always produce the same output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Any questions? Are you feeling Cybersecure?</a:t>
            </a:r>
            <a:endParaRPr/>
          </a:p>
        </p:txBody>
      </p:sp>
      <p:pic>
        <p:nvPicPr>
          <p:cNvPr id="79" name="Google Shape;79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70524" y="1017725"/>
            <a:ext cx="3861950" cy="3844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Dark">
  <a:themeElements>
    <a:clrScheme name="Simple Dark">
      <a:dk1>
        <a:srgbClr val="FFFFFF"/>
      </a:dk1>
      <a:lt1>
        <a:srgbClr val="212121"/>
      </a:lt1>
      <a:dk2>
        <a:srgbClr val="303030"/>
      </a:dk2>
      <a:lt2>
        <a:srgbClr val="ADADAD"/>
      </a:lt2>
      <a:accent1>
        <a:srgbClr val="009688"/>
      </a:accent1>
      <a:accent2>
        <a:srgbClr val="EEEEEE"/>
      </a:accent2>
      <a:accent3>
        <a:srgbClr val="78909C"/>
      </a:accent3>
      <a:accent4>
        <a:srgbClr val="FFAB40"/>
      </a:accent4>
      <a:accent5>
        <a:srgbClr val="4DD0E1"/>
      </a:accent5>
      <a:accent6>
        <a:srgbClr val="EEFF41"/>
      </a:accent6>
      <a:hlink>
        <a:srgbClr val="4DD0E1"/>
      </a:hlink>
      <a:folHlink>
        <a:srgbClr val="4DD0E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